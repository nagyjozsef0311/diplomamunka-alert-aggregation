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832" r:id="rId5"/>
    <p:sldMasterId id="2147483912" r:id="rId6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17"/>
    <p:sldId id="260" r:id="rId18"/>
    <p:sldId id="261" r:id="rId19"/>
    <p:sldId id="26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94D"/>
    <a:srgbClr val="FCAF17"/>
    <a:srgbClr val="9AD1F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Közepesen sötét stílus 2 – 2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Közepesen sötét stílus 2 – 3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Közepesen sötét stílus 2 – 4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Közepesen sötét stílus 2 – 5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5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Póser Valéria" userId="867c76e4-7373-4989-a3a8-7baf708b95e6" providerId="ADAL" clId="{6A7F9666-E966-4D99-90B2-04DA2BFB203A}"/>
    <pc:docChg chg="modMainMaster">
      <pc:chgData name="Dr. Póser Valéria" userId="867c76e4-7373-4989-a3a8-7baf708b95e6" providerId="ADAL" clId="{6A7F9666-E966-4D99-90B2-04DA2BFB203A}" dt="2025-11-05T11:58:46.120" v="21" actId="20577"/>
      <pc:docMkLst>
        <pc:docMk/>
      </pc:docMkLst>
      <pc:sldMasterChg chg="modSldLayout">
        <pc:chgData name="Dr. Póser Valéria" userId="867c76e4-7373-4989-a3a8-7baf708b95e6" providerId="ADAL" clId="{6A7F9666-E966-4D99-90B2-04DA2BFB203A}" dt="2025-11-05T11:58:46.120" v="21" actId="20577"/>
        <pc:sldMasterMkLst>
          <pc:docMk/>
          <pc:sldMasterMk cId="2532481365" sldId="2147483912"/>
        </pc:sldMasterMkLst>
        <pc:sldLayoutChg chg="modSp mod">
          <pc:chgData name="Dr. Póser Valéria" userId="867c76e4-7373-4989-a3a8-7baf708b95e6" providerId="ADAL" clId="{6A7F9666-E966-4D99-90B2-04DA2BFB203A}" dt="2025-11-05T11:58:46.120" v="21" actId="20577"/>
          <pc:sldLayoutMkLst>
            <pc:docMk/>
            <pc:sldMasterMk cId="2532481365" sldId="2147483912"/>
            <pc:sldLayoutMk cId="913352450" sldId="2147483913"/>
          </pc:sldLayoutMkLst>
          <pc:spChg chg="mod">
            <ac:chgData name="Dr. Póser Valéria" userId="867c76e4-7373-4989-a3a8-7baf708b95e6" providerId="ADAL" clId="{6A7F9666-E966-4D99-90B2-04DA2BFB203A}" dt="2025-11-05T11:58:46.120" v="21" actId="20577"/>
            <ac:spMkLst>
              <pc:docMk/>
              <pc:sldMasterMk cId="2532481365" sldId="2147483912"/>
              <pc:sldLayoutMk cId="913352450" sldId="2147483913"/>
              <ac:spMk id="2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6FD15-60BD-448E-93F3-E9C0354025CB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A67F-A7A0-4250-B5C2-9F4A9845DC9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23506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779A9-2F62-41F1-8D39-20DA253901A2}" type="datetimeFigureOut">
              <a:rPr lang="hu-HU" smtClean="0"/>
              <a:t>2025. 11. 05.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21E38-7EB9-41BA-9711-131DF6B1D9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45882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Jó napot kívánok! Nagy József vagyok, a diplomamunkám témája a behatolásérzékelő rendszerek riasztásainak csoportosítása és rangsorolása egy biztonsági műveleti központban, együttműködő agentekkel. Ebben a rövid összefoglalóban a szakirodalmi kutatás eredményét mutatom be: milyen adathalmazokon lehet mérni, milyen módszerek léteznek és mi a gyengeségük, hogyan épül fel a tervezett rendszer, miben különbözik a meglévő megoldásoktól, és milyen eredményt várok a mérésektől.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biztonsági műveleti központok elemzőit elárasztják a riasztások, és ezek túlnyomó része nem valódi támadás. A nyilvános AIT-ADS adathalmaz egyik forgatókönyvében a Suricata 9186 riasztásából mindössze 44 tartozott a támadáshoz, ez fél százalék.</a:t>
            </a:r>
          </a:p>
          <a:p/>
          <a:p>
            <a:r>
              <a:t>A szakirodalom legerősebb, tanítóadatot nem igénylő módszere a kockázatalapú riasztás-pontozás. Uetz és szerzőtársai 2026-ban nyolc adathalmazon mérték: a rangsor-pontosság – annak valószínűsége, hogy egy valódi riasztás egy téves elé kerül – 0,72-ről 0,92-re nőtt a csak súlyosság szerinti sorrendhez képest.</a:t>
            </a:r>
          </a:p>
          <a:p/>
          <a:p>
            <a:r>
              <a:t>Ez a módszer viszont csak a riasztások folyamából dolgozik: nem tudja, mennyire fontos a gép, fut-e rajta sérülékeny szoftver, és mennyire látjuk. Az iparban a Splunk használ ilyen adatot, de nincs nyilvános mérés arról, mennyit ad hozzá. Ráadásul egy friss áttekintés szerint 87 tanulmányból csak 9 alapult éles SOC-adaton. Ez a dolgozat rése: megmérni, mennyit javít a környezeti információ egy már erős módszeren.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Riasztás-rangsorolást csak olyan adaton lehet mérni, ahol riasztások vannak, és tudjuk, melyik tartozik támadáshoz. A klasszikus adathalmazok, mint a DARPA 2000 vagy a CIC-IDS2017, nyers forgalmat vagy folyamstatisztikát tartalmaznak, osztályozásra készültek, és nincs bennük környezeti információ.</a:t>
            </a:r>
          </a:p>
          <a:p/>
          <a:p>
            <a:r>
              <a:t>Az AIT-ADS ezzel szemben kész Suricata- és Wazuh-riasztásokat ad, nyolc eltérő hálózati környezetben lejátszott, több lépésből álló támadással, címkével. A legfontosabb: ugyanezen mérték a kockázatalapú pontozást, így az eredményeim közvetlenül összevethetők. Hátránya, hogy nincs benne sérülékenység-azonosító, ezért itt csak szolgáltatás szintjén tudom vizsgálni, működhet-e a támadás.</a:t>
            </a:r>
          </a:p>
          <a:p/>
          <a:p>
            <a:r>
              <a:t>A CATS-változattal ellenőrzöm, hogy ugyanazokat a riasztásokat dolgozom-e fel. A CVE-szintű illesztést a saját laborban mérem: VMware-gépek Wazuh-agentekkel, Suricata, és Dockerben egy sérülékeny WordPress, ahol a gépnyilvántartást én töltöm 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szakirodalmat hat módszercsaládba soroltam. A súlyosság szerinti sorrend egyszerű, de a környezettől független. A többszempontú módszerek, például a páros összehasonlítás vagy a fuzzy logika, használnak környezetet, de a súlyokat ritkán vizsgálják, és régi adatokon mértek.</a:t>
            </a:r>
          </a:p>
          <a:p/>
          <a:p>
            <a:r>
              <a:t>A környezetre és a sérülékenységre épülő ellenőrzés szűr: ha hiányos a nyilvántartás, valódi támadást is eltávolíthat. A kockázatalapú pontozás a legerősebb tanítás nélküli módszer, de nem használ környezetet. A tanuló és a származáskövető módszerek, mint a NoDoze vagy az AlertPro, pontosak, de címkét vagy részletes gépi naplót igényelnek.</a:t>
            </a:r>
          </a:p>
          <a:p/>
          <a:p>
            <a:r>
              <a:t>A nyelvi modellekre épülő agentrendszerek jól magyaráznak, de lassúak: a CORTEX például nagyjából 5,7-szer több szöveget dolgoz fel, és 3,4-szer lassabb, mint egyetlen modell. A kimenetük ráadásul nem megismételhető. Az utolsó sor mutatja, hogy a saját megoldásom mindhárom szempontot teljesíti.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rendszer hét agentből áll, mindegyik egy önálló, tesztelhető Python-modul, meghatározott bemenettel és kimenettel. Az egységesítő közös formára hozza a Suricata- és a Wazuh-riasztásokat. A csoportosító összefogja az összetartozókat: közös IP-cím vagy felhasználó, időbeli közelség. A környezeti agent kikeresi a gép fontosságát, zónáját és megfigyeltségét, a sérülékenységi agent pedig azt, hogy működhet-e a támadás azon a gépen.</a:t>
            </a:r>
          </a:p>
          <a:p/>
          <a:p>
            <a:r>
              <a:t>A rangsoroló súlyozott összeget számol; a súlyokat páros összehasonlítással, a mérés előtt rögzítem. Kék színnel jelöltem a kiszámítható programrészeket: ezek adják a pontszámot. Egyetlen agent használ nyelvi modellt, a magyarázó: helyben futó modellel rövid összefoglalót ír, amelyet egy ellenőrző lépés átnéz. A nyelvi modell soha nem dönt a sorrendről és nem ad pontszámot.</a:t>
            </a:r>
          </a:p>
          <a:p/>
          <a:p>
            <a:r>
              <a:t>A megvalósítás három rétegű: először a sima Python-mag, amin az AIT-mérések futnak, utána a LangGraph vezérlés, végül opcionálisan egy csak olvasható MCP-csatlakozó a gépnyilvántartáshoz.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Hat ponton térek el a kutatások többségétől. Először: a környezetet nem szűrésre használom, hanem súlyként, így egy hiányos nyilvántartás miatt nem tűnik el riasztás, legfeljebb hátrébb kerül.</a:t>
            </a:r>
          </a:p>
          <a:p/>
          <a:p>
            <a:r>
              <a:t>Másodszor: nem a gyenge, csak súlyosság szerinti sorrenddel hasonlítok össze, hanem a legerősebb nyilvános módszerrel, a kockázatalapú pontozással, és lépésenként mérem, mit ad hozzá a gép fontossága, a sérülékenység és a megfigyeltség.</a:t>
            </a:r>
          </a:p>
          <a:p/>
          <a:p>
            <a:r>
              <a:t>Harmadszor: nyilvános, címkézett adathalmazon mérek, ezért az eredmény megismételhető és összevethető. Negyedszer: nem kell tanítóadat, a tanult súlyokat csak összehasonlításként használom, egy forgatókönyv kihagyásával. Ötödször: a nyelvi modell csak magyaráz, helyben fut, tehát a naplók nem hagyják el a szervezetet. Végül a súlyokat a mérés előtt rögzítem, és plusz-mínusz húsz százalékos érzékenységvizsgálattal ellenőrzöm.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értékelés lépésenként bővül. A 0. lépés a nyers riasztáslista, az 1. a súlyosság szerinti sorrend, a 2. a csoportosítás. A 3. lépésben újra előállítom a kockázatalapú pontozást; ha jól dolgozom, a rangsor-pontosságnak a közölt 0,92 körül kell lennie. Ez a hiteles kiindulópont.</a:t>
            </a:r>
          </a:p>
          <a:p/>
          <a:p>
            <a:r>
              <a:t>Ezután egyenként adom hozzá a gép fontosságát, a sérülékenységet és a megfigyeltséget. Azt várom, hogy a javulás főleg a lista elején jelentkezik: a fontos gépeket érintő valódi támadások előrébb kerülnek. Az AIT-ADS-en a sérülékenység hatása várhatóan kisebb, mert ott csak szolgáltatás szintjén illeszthető, a laborban viszont CVE szintjén is, ezért ott nagyobb hatást várok.</a:t>
            </a:r>
          </a:p>
          <a:p/>
          <a:p>
            <a:r>
              <a:t>Sikeresnek akkor tekintem, ha legfeljebb két százalék valódi támadás csúszik hátra, miközben az elemző elé kerülő tételek száma csökken, és a különbség a nyolc forgatókönyvön Wilcoxon-próbával is kimutatható. Ezek most még várakozások; a mérési eredményeket a következő félévben mutatom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520" y="840261"/>
            <a:ext cx="8777574" cy="2347781"/>
          </a:xfrm>
          <a:prstGeom prst="rect">
            <a:avLst/>
          </a:prstGeom>
        </p:spPr>
        <p:txBody>
          <a:bodyPr anchor="b"/>
          <a:lstStyle>
            <a:lvl1pPr algn="ctr">
              <a:defRPr sz="3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Szakdolgozat/Diplomamunka címe magyarul</a:t>
            </a:r>
            <a:endParaRPr lang="en-US" dirty="0"/>
          </a:p>
        </p:txBody>
      </p:sp>
      <p:sp>
        <p:nvSpPr>
          <p:cNvPr id="9" name="Szöveg helye 5"/>
          <p:cNvSpPr>
            <a:spLocks noGrp="1"/>
          </p:cNvSpPr>
          <p:nvPr>
            <p:ph type="body" sz="quarter" idx="13" hasCustomPrompt="1"/>
          </p:nvPr>
        </p:nvSpPr>
        <p:spPr>
          <a:xfrm>
            <a:off x="156519" y="3703170"/>
            <a:ext cx="8777575" cy="9786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buFontTx/>
              <a:buNone/>
              <a:defRPr sz="24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Specializáció megnevezése</a:t>
            </a:r>
            <a:br>
              <a:rPr lang="hu-HU" dirty="0"/>
            </a:br>
            <a:r>
              <a:rPr lang="hu-HU" dirty="0"/>
              <a:t>Gipsz Jakab – N3PK0D</a:t>
            </a:r>
          </a:p>
        </p:txBody>
      </p:sp>
      <p:sp>
        <p:nvSpPr>
          <p:cNvPr id="10" name="Szöveg helye 5"/>
          <p:cNvSpPr>
            <a:spLocks noGrp="1"/>
          </p:cNvSpPr>
          <p:nvPr>
            <p:ph type="body" sz="quarter" idx="14" hasCustomPrompt="1"/>
          </p:nvPr>
        </p:nvSpPr>
        <p:spPr>
          <a:xfrm>
            <a:off x="156518" y="5193678"/>
            <a:ext cx="4333104" cy="8490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Témavezető</a:t>
            </a:r>
            <a:br>
              <a:rPr lang="hu-HU" dirty="0"/>
            </a:br>
            <a:r>
              <a:rPr lang="hu-HU" dirty="0"/>
              <a:t>Prof. Dr. Vezetéknév Keresztnév</a:t>
            </a:r>
          </a:p>
          <a:p>
            <a:pPr lvl="0"/>
            <a:endParaRPr lang="hu-HU" dirty="0"/>
          </a:p>
        </p:txBody>
      </p:sp>
      <p:sp>
        <p:nvSpPr>
          <p:cNvPr id="14" name="Szöveg helye 5"/>
          <p:cNvSpPr>
            <a:spLocks noGrp="1"/>
          </p:cNvSpPr>
          <p:nvPr>
            <p:ph type="body" sz="quarter" idx="15" hasCustomPrompt="1"/>
          </p:nvPr>
        </p:nvSpPr>
        <p:spPr>
          <a:xfrm>
            <a:off x="4600989" y="5193678"/>
            <a:ext cx="4333104" cy="8490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/>
              <a:t>Külső konzulens </a:t>
            </a:r>
            <a:br>
              <a:rPr lang="hu-HU" dirty="0"/>
            </a:br>
            <a:r>
              <a:rPr lang="hu-HU" dirty="0"/>
              <a:t>Dr. habil. Vezetéknév Keresztnév</a:t>
            </a:r>
          </a:p>
          <a:p>
            <a:pPr lvl="0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1984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56518" y="1630663"/>
            <a:ext cx="8777575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6576612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56519" y="3395878"/>
            <a:ext cx="8777575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8" y="1668657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12990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65087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00279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>
                <a:solidFill>
                  <a:srgbClr val="1D294D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solidFill>
                  <a:srgbClr val="1D294D"/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37698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8" y="1668657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5" y="3395878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83065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lvl="0"/>
            <a:endParaRPr lang="hu-HU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43496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518" y="1726557"/>
            <a:ext cx="8777575" cy="44813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163622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518" y="1726557"/>
            <a:ext cx="8777575" cy="44813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87230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756596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673413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90464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286769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1244491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_összehasonlítá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789197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4077044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1983398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1D294D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432343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FCAF17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2335992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_összehasonlítá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9AD1F0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1510675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6507388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0277451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6325968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>
              <a:defRPr sz="3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4016750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56518" y="1660654"/>
            <a:ext cx="8777575" cy="461319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9584535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56519" y="696827"/>
            <a:ext cx="8777575" cy="57960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3427303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64757" y="827478"/>
            <a:ext cx="8769337" cy="2730836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64757" y="3566984"/>
            <a:ext cx="8769337" cy="2730836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055412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691978"/>
            <a:ext cx="4401978" cy="580089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30138" y="691977"/>
            <a:ext cx="4401978" cy="580089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1433970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840261"/>
            <a:ext cx="4401978" cy="377434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4" hasCustomPrompt="1"/>
          </p:nvPr>
        </p:nvSpPr>
        <p:spPr>
          <a:xfrm>
            <a:off x="156519" y="840261"/>
            <a:ext cx="4375597" cy="377434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8564128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56434" y="840261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54457" y="3525797"/>
            <a:ext cx="4401977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0" name="Picture Placeholder 2"/>
          <p:cNvSpPr>
            <a:spLocks noGrp="1" noChangeAspect="1"/>
          </p:cNvSpPr>
          <p:nvPr>
            <p:ph type="pic" idx="14" hasCustomPrompt="1"/>
          </p:nvPr>
        </p:nvSpPr>
        <p:spPr>
          <a:xfrm>
            <a:off x="178775" y="840261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1" name="Picture Placehold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4580752" y="3525797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8686073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426941" y="2061455"/>
            <a:ext cx="5507153" cy="381158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2061455"/>
            <a:ext cx="325072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7748793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601730" y="1716492"/>
            <a:ext cx="3332364" cy="450151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8" y="1716492"/>
            <a:ext cx="5445211" cy="4501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7028417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840261"/>
            <a:ext cx="4401978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840263"/>
            <a:ext cx="4375598" cy="2685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4532116" y="3542270"/>
            <a:ext cx="4401978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56520" y="3542270"/>
            <a:ext cx="4375596" cy="26855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8484217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 txBox="1">
            <a:spLocks/>
          </p:cNvSpPr>
          <p:nvPr userDrawn="1"/>
        </p:nvSpPr>
        <p:spPr>
          <a:xfrm>
            <a:off x="4556434" y="3533910"/>
            <a:ext cx="4377659" cy="26857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</p:txBody>
      </p:sp>
      <p:sp>
        <p:nvSpPr>
          <p:cNvPr id="1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56434" y="840261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54457" y="3525797"/>
            <a:ext cx="4401977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 txBox="1">
            <a:spLocks/>
          </p:cNvSpPr>
          <p:nvPr userDrawn="1"/>
        </p:nvSpPr>
        <p:spPr>
          <a:xfrm>
            <a:off x="154457" y="836016"/>
            <a:ext cx="4377659" cy="26857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28160221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felsorolás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lvl="0"/>
            <a:endParaRPr lang="hu-HU" dirty="0"/>
          </a:p>
          <a:p>
            <a:pPr lvl="0"/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8216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ivatkozás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  <p:sp>
        <p:nvSpPr>
          <p:cNvPr id="8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171450" indent="0" algn="just">
              <a:lnSpc>
                <a:spcPct val="150000"/>
              </a:lnSpc>
              <a:buFont typeface="Wingdings" panose="05000000000000000000" pitchFamily="2" charset="2"/>
              <a:buNone/>
              <a:defRPr sz="2000" baseline="0">
                <a:solidFill>
                  <a:srgbClr val="1D294D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800" baseline="0">
                <a:solidFill>
                  <a:srgbClr val="1D294D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hu-HU" sz="2000" dirty="0"/>
              <a:t>Dia száma. dia: hivatkozás, utoljára megtekintve: dátum</a:t>
            </a:r>
          </a:p>
          <a:p>
            <a:r>
              <a:rPr lang="hu-HU" sz="2000" dirty="0"/>
              <a:t>Dia száma. dia: hivatkozás, utoljára megtekintve: dátum</a:t>
            </a:r>
          </a:p>
          <a:p>
            <a:r>
              <a:rPr lang="hu-HU" sz="2000" dirty="0"/>
              <a:t>Dia száma. dia: hivatkozás, utoljára megtekintve: dátum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Hivatkozások/képek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2474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Záró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742950" y="3163329"/>
            <a:ext cx="7772400" cy="799071"/>
          </a:xfrm>
          <a:prstGeom prst="rect">
            <a:avLst/>
          </a:prstGeom>
        </p:spPr>
        <p:txBody>
          <a:bodyPr anchor="b"/>
          <a:lstStyle>
            <a:lvl1pPr algn="ctr">
              <a:defRPr sz="4800" b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KÖSZÖNÖM A FIGYELMET!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5939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520" y="840261"/>
            <a:ext cx="8777574" cy="2347781"/>
          </a:xfrm>
          <a:prstGeom prst="rect">
            <a:avLst/>
          </a:prstGeo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Szakdolgozat/Diplomamunka címe magyarul</a:t>
            </a:r>
            <a:endParaRPr lang="en-US" dirty="0"/>
          </a:p>
        </p:txBody>
      </p:sp>
      <p:sp>
        <p:nvSpPr>
          <p:cNvPr id="9" name="Szöveg helye 5"/>
          <p:cNvSpPr>
            <a:spLocks noGrp="1"/>
          </p:cNvSpPr>
          <p:nvPr>
            <p:ph type="body" sz="quarter" idx="13" hasCustomPrompt="1"/>
          </p:nvPr>
        </p:nvSpPr>
        <p:spPr>
          <a:xfrm>
            <a:off x="156519" y="3703170"/>
            <a:ext cx="8777575" cy="9786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buFontTx/>
              <a:buNone/>
              <a:defRPr sz="24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Specializáció megnevezése</a:t>
            </a:r>
            <a:br>
              <a:rPr lang="hu-HU" dirty="0"/>
            </a:br>
            <a:r>
              <a:rPr lang="hu-HU" dirty="0"/>
              <a:t>Gipsz Jakab – N3PK0D</a:t>
            </a:r>
          </a:p>
        </p:txBody>
      </p:sp>
      <p:sp>
        <p:nvSpPr>
          <p:cNvPr id="10" name="Szöveg helye 5"/>
          <p:cNvSpPr>
            <a:spLocks noGrp="1"/>
          </p:cNvSpPr>
          <p:nvPr>
            <p:ph type="body" sz="quarter" idx="14" hasCustomPrompt="1"/>
          </p:nvPr>
        </p:nvSpPr>
        <p:spPr>
          <a:xfrm>
            <a:off x="156518" y="5193678"/>
            <a:ext cx="4333104" cy="8490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Témavezető</a:t>
            </a:r>
            <a:br>
              <a:rPr lang="hu-HU" dirty="0"/>
            </a:br>
            <a:r>
              <a:rPr lang="hu-HU" dirty="0"/>
              <a:t>Prof. Dr. Vezetéknév Keresztnév</a:t>
            </a:r>
          </a:p>
          <a:p>
            <a:pPr lvl="0"/>
            <a:endParaRPr lang="hu-HU" dirty="0"/>
          </a:p>
        </p:txBody>
      </p:sp>
      <p:sp>
        <p:nvSpPr>
          <p:cNvPr id="14" name="Szöveg helye 5"/>
          <p:cNvSpPr>
            <a:spLocks noGrp="1"/>
          </p:cNvSpPr>
          <p:nvPr>
            <p:ph type="body" sz="quarter" idx="15" hasCustomPrompt="1"/>
          </p:nvPr>
        </p:nvSpPr>
        <p:spPr>
          <a:xfrm>
            <a:off x="4600989" y="5193678"/>
            <a:ext cx="4333104" cy="8490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Külső konzulens </a:t>
            </a:r>
            <a:br>
              <a:rPr lang="hu-HU" dirty="0"/>
            </a:br>
            <a:r>
              <a:rPr lang="hu-HU" dirty="0"/>
              <a:t>Dr. habil. Vezetéknév Keresztnév</a:t>
            </a:r>
          </a:p>
          <a:p>
            <a:pPr lvl="0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246322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_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56518" y="1630663"/>
            <a:ext cx="8777575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9311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_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56519" y="3395878"/>
            <a:ext cx="8777575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8" y="1668657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100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0829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795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6208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8" y="1668657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5" y="3395878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799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7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1307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8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518" y="1726557"/>
            <a:ext cx="8777575" cy="44813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6764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9 tartalomrész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518" y="1726557"/>
            <a:ext cx="8777575" cy="44813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2832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összehasonlítás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9227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összehasonlítás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4849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összehasonlítás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98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összehasonlítás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3556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összehasonlítás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73615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 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8687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7 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9774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8 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FCAF17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/34</a:t>
            </a:r>
            <a:endParaRPr lang="hu-HU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1576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9 összehasonlítás"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9AD1F0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4039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3804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4991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>
              <a:defRPr sz="3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5425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56518" y="1660654"/>
            <a:ext cx="8777575" cy="461319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86140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56519" y="696827"/>
            <a:ext cx="8777575" cy="57960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7655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64757" y="827478"/>
            <a:ext cx="8769337" cy="2730836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64757" y="3566984"/>
            <a:ext cx="8769337" cy="2730836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4014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691978"/>
            <a:ext cx="4401978" cy="580089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30138" y="691977"/>
            <a:ext cx="4401978" cy="580089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2182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56434" y="831715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54457" y="3525797"/>
            <a:ext cx="4401977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1" name="Picture Placeholder 2"/>
          <p:cNvSpPr>
            <a:spLocks noGrp="1" noChangeAspect="1"/>
          </p:cNvSpPr>
          <p:nvPr>
            <p:ph type="pic" idx="14" hasCustomPrompt="1"/>
          </p:nvPr>
        </p:nvSpPr>
        <p:spPr>
          <a:xfrm>
            <a:off x="161683" y="831715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2" name="Picture Placehold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4572206" y="3525797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8048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840261"/>
            <a:ext cx="4401978" cy="377434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4" hasCustomPrompt="1"/>
          </p:nvPr>
        </p:nvSpPr>
        <p:spPr>
          <a:xfrm>
            <a:off x="156519" y="840261"/>
            <a:ext cx="4375597" cy="377434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480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426941" y="2061455"/>
            <a:ext cx="5507153" cy="381158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2061455"/>
            <a:ext cx="325072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5176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601730" y="1716492"/>
            <a:ext cx="3332364" cy="450151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8" y="1716492"/>
            <a:ext cx="5445211" cy="4501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Diacím szerkesztése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7988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840261"/>
            <a:ext cx="4401978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840263"/>
            <a:ext cx="4375598" cy="2685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4532116" y="3542270"/>
            <a:ext cx="4401978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56520" y="3542270"/>
            <a:ext cx="4375596" cy="26855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0272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 txBox="1">
            <a:spLocks/>
          </p:cNvSpPr>
          <p:nvPr userDrawn="1"/>
        </p:nvSpPr>
        <p:spPr>
          <a:xfrm>
            <a:off x="4556434" y="3533910"/>
            <a:ext cx="4377659" cy="26857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</p:txBody>
      </p:sp>
      <p:sp>
        <p:nvSpPr>
          <p:cNvPr id="1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56434" y="840261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54457" y="3525797"/>
            <a:ext cx="4401977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 txBox="1">
            <a:spLocks/>
          </p:cNvSpPr>
          <p:nvPr userDrawn="1"/>
        </p:nvSpPr>
        <p:spPr>
          <a:xfrm>
            <a:off x="154457" y="836016"/>
            <a:ext cx="4377659" cy="26857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1302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felsorolás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lvl="0"/>
            <a:endParaRPr lang="hu-HU" dirty="0"/>
          </a:p>
          <a:p>
            <a:pPr lvl="0"/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Diacím szerkesztése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0939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felsorolás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171450" indent="0" algn="just">
              <a:lnSpc>
                <a:spcPct val="150000"/>
              </a:lnSpc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80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 dirty="0"/>
              <a:t>Diaszöveg szerkesztése</a:t>
            </a:r>
          </a:p>
          <a:p>
            <a:pPr lvl="0"/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hu-HU" dirty="0"/>
              <a:t>Diaszöveg szerkesztése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Diacím szerkesztése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0485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ivatkozás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/34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171450" indent="0" algn="just">
              <a:lnSpc>
                <a:spcPct val="150000"/>
              </a:lnSpc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800" baseline="0">
                <a:solidFill>
                  <a:srgbClr val="1D294D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hu-HU" sz="2000" dirty="0"/>
              <a:t>Dia száma. dia: hivatkozás, utoljára megtekintve: dátum</a:t>
            </a:r>
          </a:p>
          <a:p>
            <a:r>
              <a:rPr lang="hu-HU" sz="2000" dirty="0"/>
              <a:t>Dia száma. dia: hivatkozás, utoljára megtekintve: dátum</a:t>
            </a:r>
          </a:p>
          <a:p>
            <a:r>
              <a:rPr lang="hu-HU" sz="2000" dirty="0"/>
              <a:t>Dia száma. dia: hivatkozás, utoljára megtekintve: dátum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>
                <a:solidFill>
                  <a:schemeClr val="bg1"/>
                </a:solidFill>
              </a:rPr>
              <a:t>Hivatkozások/képek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0621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Záró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742950" y="3163329"/>
            <a:ext cx="7772400" cy="799071"/>
          </a:xfrm>
          <a:prstGeom prst="rect">
            <a:avLst/>
          </a:prstGeom>
        </p:spPr>
        <p:txBody>
          <a:bodyPr anchor="b"/>
          <a:lstStyle>
            <a:lvl1pPr algn="ctr">
              <a:defRPr sz="4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KÖSZÖNÖM A FIGYELMET!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1297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520" y="840261"/>
            <a:ext cx="8777574" cy="2347781"/>
          </a:xfrm>
          <a:prstGeom prst="rect">
            <a:avLst/>
          </a:prstGeom>
        </p:spPr>
        <p:txBody>
          <a:bodyPr anchor="b"/>
          <a:lstStyle>
            <a:lvl1pPr algn="ctr">
              <a:defRPr sz="3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Szakdolgozat/Diplomamunka címe magyarul</a:t>
            </a:r>
            <a:endParaRPr lang="en-US" dirty="0"/>
          </a:p>
        </p:txBody>
      </p:sp>
      <p:sp>
        <p:nvSpPr>
          <p:cNvPr id="9" name="Szöveg helye 5"/>
          <p:cNvSpPr>
            <a:spLocks noGrp="1"/>
          </p:cNvSpPr>
          <p:nvPr>
            <p:ph type="body" sz="quarter" idx="13" hasCustomPrompt="1"/>
          </p:nvPr>
        </p:nvSpPr>
        <p:spPr>
          <a:xfrm>
            <a:off x="156519" y="3703170"/>
            <a:ext cx="8777575" cy="9786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buFontTx/>
              <a:buNone/>
              <a:defRPr sz="24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Specializáció megnevezése</a:t>
            </a:r>
            <a:br>
              <a:rPr lang="hu-HU" dirty="0"/>
            </a:br>
            <a:r>
              <a:rPr lang="hu-HU" dirty="0"/>
              <a:t>Gipsz Jakab – N3PK0D</a:t>
            </a:r>
          </a:p>
        </p:txBody>
      </p:sp>
      <p:sp>
        <p:nvSpPr>
          <p:cNvPr id="10" name="Szöveg helye 5"/>
          <p:cNvSpPr>
            <a:spLocks noGrp="1"/>
          </p:cNvSpPr>
          <p:nvPr>
            <p:ph type="body" sz="quarter" idx="14" hasCustomPrompt="1"/>
          </p:nvPr>
        </p:nvSpPr>
        <p:spPr>
          <a:xfrm>
            <a:off x="156518" y="5193678"/>
            <a:ext cx="4333104" cy="8490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Témavezető</a:t>
            </a:r>
            <a:br>
              <a:rPr lang="hu-HU" dirty="0"/>
            </a:br>
            <a:r>
              <a:rPr lang="hu-HU" dirty="0"/>
              <a:t>Prof. Dr. Vezetéknév Keresztnév</a:t>
            </a:r>
          </a:p>
          <a:p>
            <a:pPr lvl="0"/>
            <a:endParaRPr lang="hu-HU" dirty="0"/>
          </a:p>
        </p:txBody>
      </p:sp>
      <p:sp>
        <p:nvSpPr>
          <p:cNvPr id="14" name="Szöveg helye 5"/>
          <p:cNvSpPr>
            <a:spLocks noGrp="1"/>
          </p:cNvSpPr>
          <p:nvPr>
            <p:ph type="body" sz="quarter" idx="15" hasCustomPrompt="1"/>
          </p:nvPr>
        </p:nvSpPr>
        <p:spPr>
          <a:xfrm>
            <a:off x="4600989" y="5193678"/>
            <a:ext cx="4333104" cy="8490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hu-HU"/>
              <a:t>Külső konzulens </a:t>
            </a:r>
            <a:br>
              <a:rPr lang="hu-HU" dirty="0"/>
            </a:br>
            <a:r>
              <a:rPr lang="hu-HU" dirty="0"/>
              <a:t>Dr. habil. Vezetéknév Keresztnév</a:t>
            </a:r>
          </a:p>
          <a:p>
            <a:pPr lvl="0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1335245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56518" y="1630663"/>
            <a:ext cx="8777575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15887880"/>
      </p:ext>
    </p:extLst>
  </p:cSld>
  <p:clrMapOvr>
    <a:masterClrMapping/>
  </p:clrMapOvr>
  <p:hf hdr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56519" y="3395878"/>
            <a:ext cx="8777575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8" y="1668657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7756489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868960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14313" marR="0" lvl="0" indent="-21431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336920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>
                <a:solidFill>
                  <a:srgbClr val="1D294D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solidFill>
                  <a:srgbClr val="1D294D"/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6" y="1668657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8105709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6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8" y="1668657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296375" y="3395878"/>
            <a:ext cx="4497860" cy="2907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775375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7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Diaszöveg szerkesztése</a:t>
            </a:r>
          </a:p>
          <a:p>
            <a:pPr lvl="0"/>
            <a:endParaRPr lang="hu-HU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6075958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8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518" y="1726557"/>
            <a:ext cx="8777575" cy="44813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6010173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9_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518" y="1726557"/>
            <a:ext cx="8777575" cy="44813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7354876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11358685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3707251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220362" y="649094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2779448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4058975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442550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6_összehasonlítá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7444964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7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6519" y="1986756"/>
            <a:ext cx="4242486" cy="39609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91608" y="1986756"/>
            <a:ext cx="4242486" cy="3960985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A megjeleníteni kívánt elem beszúrásához kattintson a megfelelő ikonra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009556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8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2184912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9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1D294D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0410453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0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FCAF17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1315218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1_összehasonlítá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519" y="1862398"/>
            <a:ext cx="43416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6520" y="2726723"/>
            <a:ext cx="4341663" cy="3339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92432" y="1862398"/>
            <a:ext cx="4341663" cy="823912"/>
          </a:xfrm>
          <a:prstGeom prst="rect">
            <a:avLst/>
          </a:prstGeom>
          <a:solidFill>
            <a:srgbClr val="9AD1F0"/>
          </a:solidFill>
        </p:spPr>
        <p:txBody>
          <a:bodyPr anchor="b"/>
          <a:lstStyle>
            <a:lvl1pPr marL="0" indent="0">
              <a:buNone/>
              <a:defRPr sz="2200" b="1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592432" y="2726723"/>
            <a:ext cx="4341663" cy="3339371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 marL="0" indent="0">
              <a:buNone/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/>
              <a:t>2025. november 5.</a:t>
            </a:fld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 dirty="0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191761522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7814427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3192512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FCAF17"/>
          </a:solidFill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0032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8833" y="1713470"/>
            <a:ext cx="5095262" cy="4534466"/>
          </a:xfrm>
          <a:prstGeom prst="rect">
            <a:avLst/>
          </a:prstGeom>
          <a:solidFill>
            <a:srgbClr val="9AD1F0"/>
          </a:solidFill>
        </p:spPr>
        <p:txBody>
          <a:bodyPr/>
          <a:lstStyle>
            <a:lvl1pPr>
              <a:defRPr sz="3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8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dirty="0"/>
              <a:t>Első szint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1713470"/>
            <a:ext cx="3422500" cy="45344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6244209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56518" y="1660654"/>
            <a:ext cx="8777575" cy="461319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1519333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56519" y="696827"/>
            <a:ext cx="8777575" cy="57960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9005813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64757" y="827478"/>
            <a:ext cx="8769337" cy="2730836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64757" y="3566984"/>
            <a:ext cx="8769337" cy="2730836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440310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691978"/>
            <a:ext cx="4401978" cy="580089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30138" y="691977"/>
            <a:ext cx="4401978" cy="580089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583445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840261"/>
            <a:ext cx="4401978" cy="377434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56519" y="4803648"/>
            <a:ext cx="87775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4" hasCustomPrompt="1"/>
          </p:nvPr>
        </p:nvSpPr>
        <p:spPr>
          <a:xfrm>
            <a:off x="156519" y="840261"/>
            <a:ext cx="4375597" cy="377434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3168039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6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56434" y="840261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54457" y="3525797"/>
            <a:ext cx="4401977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0" name="Picture Placeholder 2"/>
          <p:cNvSpPr>
            <a:spLocks noGrp="1" noChangeAspect="1"/>
          </p:cNvSpPr>
          <p:nvPr>
            <p:ph type="pic" idx="14" hasCustomPrompt="1"/>
          </p:nvPr>
        </p:nvSpPr>
        <p:spPr>
          <a:xfrm>
            <a:off x="178775" y="840261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1" name="Picture Placehold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4580752" y="3525797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6569470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426941" y="2061455"/>
            <a:ext cx="5507153" cy="381158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2061455"/>
            <a:ext cx="325072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>
              <a:defRPr sz="3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4842203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601730" y="1716492"/>
            <a:ext cx="3332364" cy="450151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8" y="1716492"/>
            <a:ext cx="5445211" cy="45015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0464889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32116" y="840261"/>
            <a:ext cx="4401978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6519" y="840263"/>
            <a:ext cx="4375598" cy="2685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4532116" y="3542270"/>
            <a:ext cx="4401978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56520" y="3542270"/>
            <a:ext cx="4375596" cy="26855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Diaszöveg szerkesztése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9919387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tartalom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 txBox="1">
            <a:spLocks/>
          </p:cNvSpPr>
          <p:nvPr userDrawn="1"/>
        </p:nvSpPr>
        <p:spPr>
          <a:xfrm>
            <a:off x="4556434" y="3533910"/>
            <a:ext cx="4377659" cy="26857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</p:txBody>
      </p:sp>
      <p:sp>
        <p:nvSpPr>
          <p:cNvPr id="1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56434" y="840261"/>
            <a:ext cx="4377659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3" hasCustomPrompt="1"/>
          </p:nvPr>
        </p:nvSpPr>
        <p:spPr>
          <a:xfrm>
            <a:off x="154457" y="3525797"/>
            <a:ext cx="4401977" cy="2685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A kép beszúrásához kattintson az ikonra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3B22455-15EF-9F4A-8944-649986A0615D}"/>
              </a:ext>
            </a:extLst>
          </p:cNvPr>
          <p:cNvSpPr txBox="1">
            <a:spLocks/>
          </p:cNvSpPr>
          <p:nvPr userDrawn="1"/>
        </p:nvSpPr>
        <p:spPr>
          <a:xfrm>
            <a:off x="154457" y="836016"/>
            <a:ext cx="4377659" cy="26857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0060855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 felsorolás 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4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aseline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lvl="0"/>
            <a:endParaRPr lang="hu-HU" dirty="0"/>
          </a:p>
          <a:p>
            <a:pPr lvl="0"/>
            <a:r>
              <a:rPr lang="hu-HU" dirty="0"/>
              <a:t>Diaszöveg szerkesztése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Második szint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Diacím szerkesztése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74632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ivatkozás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6694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1D294D"/>
                </a:solidFill>
              </a:defRPr>
            </a:lvl1pPr>
          </a:lstStyle>
          <a:p>
            <a:fld id="{C7F6CC59-61C1-4407-B4E9-D5A9FC9455DF}" type="slidenum">
              <a:rPr lang="hu-HU" smtClean="0"/>
              <a:pPr/>
              <a:t>‹#›</a:t>
            </a:fld>
            <a:r>
              <a:rPr lang="hu-HU"/>
              <a:t>/39</a:t>
            </a:r>
            <a:endParaRPr lang="hu-HU" dirty="0"/>
          </a:p>
        </p:txBody>
      </p:sp>
      <p:sp>
        <p:nvSpPr>
          <p:cNvPr id="8" name="Tartalom helye 2"/>
          <p:cNvSpPr>
            <a:spLocks noGrp="1"/>
          </p:cNvSpPr>
          <p:nvPr>
            <p:ph idx="1" hasCustomPrompt="1"/>
          </p:nvPr>
        </p:nvSpPr>
        <p:spPr>
          <a:xfrm>
            <a:off x="156518" y="1791580"/>
            <a:ext cx="8777575" cy="4351338"/>
          </a:xfrm>
          <a:prstGeom prst="rect">
            <a:avLst/>
          </a:prstGeom>
        </p:spPr>
        <p:txBody>
          <a:bodyPr/>
          <a:lstStyle>
            <a:lvl1pPr marL="171450" indent="0" algn="just">
              <a:lnSpc>
                <a:spcPct val="150000"/>
              </a:lnSpc>
              <a:buFont typeface="Wingdings" panose="05000000000000000000" pitchFamily="2" charset="2"/>
              <a:buNone/>
              <a:defRPr sz="2000" baseline="0">
                <a:solidFill>
                  <a:srgbClr val="1D294D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800" baseline="0">
                <a:solidFill>
                  <a:srgbClr val="1D294D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hu-HU" sz="2000" dirty="0"/>
              <a:t>Dia száma. dia: hivatkozás, utoljára megtekintve: dátum</a:t>
            </a:r>
          </a:p>
          <a:p>
            <a:r>
              <a:rPr lang="hu-HU" sz="2000" dirty="0"/>
              <a:t>Dia száma. dia: hivatkozás, utoljára megtekintve: dátum</a:t>
            </a:r>
          </a:p>
          <a:p>
            <a:r>
              <a:rPr lang="hu-HU" sz="2000" dirty="0"/>
              <a:t>Dia száma. dia: hivatkozás, utoljára megtekintve: dátum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56519" y="840261"/>
            <a:ext cx="8777575" cy="6013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Hivatkozások/képek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56518" y="6492874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08C36B-3B60-4C26-ADB5-50C5F67D672E}" type="datetime4">
              <a:rPr lang="hu-HU" smtClean="0">
                <a:solidFill>
                  <a:srgbClr val="1D294D"/>
                </a:solidFill>
              </a:rPr>
              <a:t>2025. november 5.</a:t>
            </a:fld>
            <a:endParaRPr lang="hu-HU" dirty="0">
              <a:solidFill>
                <a:srgbClr val="1D29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49694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Záró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742950" y="3163329"/>
            <a:ext cx="7772400" cy="799071"/>
          </a:xfrm>
          <a:prstGeom prst="rect">
            <a:avLst/>
          </a:prstGeom>
        </p:spPr>
        <p:txBody>
          <a:bodyPr anchor="b"/>
          <a:lstStyle>
            <a:lvl1pPr algn="ctr">
              <a:defRPr sz="4800" b="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hu-HU" dirty="0"/>
              <a:t>KÖSZÖNÖM A FIGYELMET!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6054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Relationship Id="rId40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74.xml"/><Relationship Id="rId37" Type="http://schemas.openxmlformats.org/officeDocument/2006/relationships/theme" Target="../theme/theme2.xml"/><Relationship Id="rId38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2.xml"/><Relationship Id="rId19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96.xml"/><Relationship Id="rId23" Type="http://schemas.openxmlformats.org/officeDocument/2006/relationships/slideLayout" Target="../slideLayouts/slideLayout97.xml"/><Relationship Id="rId24" Type="http://schemas.openxmlformats.org/officeDocument/2006/relationships/slideLayout" Target="../slideLayouts/slideLayout98.xml"/><Relationship Id="rId25" Type="http://schemas.openxmlformats.org/officeDocument/2006/relationships/slideLayout" Target="../slideLayouts/slideLayout99.xml"/><Relationship Id="rId26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2.xml"/><Relationship Id="rId29" Type="http://schemas.openxmlformats.org/officeDocument/2006/relationships/slideLayout" Target="../slideLayouts/slideLayout103.xml"/><Relationship Id="rId30" Type="http://schemas.openxmlformats.org/officeDocument/2006/relationships/slideLayout" Target="../slideLayouts/slideLayout104.xml"/><Relationship Id="rId31" Type="http://schemas.openxmlformats.org/officeDocument/2006/relationships/slideLayout" Target="../slideLayouts/slideLayout105.xml"/><Relationship Id="rId32" Type="http://schemas.openxmlformats.org/officeDocument/2006/relationships/slideLayout" Target="../slideLayouts/slideLayout106.xml"/><Relationship Id="rId33" Type="http://schemas.openxmlformats.org/officeDocument/2006/relationships/slideLayout" Target="../slideLayouts/slideLayout107.xml"/><Relationship Id="rId34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09.xml"/><Relationship Id="rId36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2.xml"/><Relationship Id="rId39" Type="http://schemas.openxmlformats.org/officeDocument/2006/relationships/theme" Target="../theme/theme3.xml"/><Relationship Id="rId40" Type="http://schemas.openxmlformats.org/officeDocument/2006/relationships/image" Target="../media/image1.png"/><Relationship Id="rId4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0" y="-1"/>
            <a:ext cx="9144000" cy="691979"/>
          </a:xfrm>
          <a:prstGeom prst="rect">
            <a:avLst/>
          </a:prstGeom>
          <a:solidFill>
            <a:srgbClr val="1D294D"/>
          </a:solidFill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Cím 1"/>
          <p:cNvSpPr txBox="1">
            <a:spLocks/>
          </p:cNvSpPr>
          <p:nvPr userDrawn="1"/>
        </p:nvSpPr>
        <p:spPr>
          <a:xfrm>
            <a:off x="0" y="6492875"/>
            <a:ext cx="9144000" cy="365125"/>
          </a:xfrm>
          <a:prstGeom prst="rect">
            <a:avLst/>
          </a:prstGeom>
          <a:solidFill>
            <a:srgbClr val="1D294D"/>
          </a:solidFill>
        </p:spPr>
        <p:txBody>
          <a:bodyPr/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pic>
        <p:nvPicPr>
          <p:cNvPr id="12" name="Kép 11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2" y="104582"/>
            <a:ext cx="2808626" cy="482811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2" y="104582"/>
            <a:ext cx="2808626" cy="482811"/>
          </a:xfrm>
          <a:prstGeom prst="rect">
            <a:avLst/>
          </a:prstGeom>
        </p:spPr>
      </p:pic>
      <p:sp>
        <p:nvSpPr>
          <p:cNvPr id="7" name="Élőláb helye 4"/>
          <p:cNvSpPr txBox="1">
            <a:spLocks/>
          </p:cNvSpPr>
          <p:nvPr userDrawn="1"/>
        </p:nvSpPr>
        <p:spPr>
          <a:xfrm>
            <a:off x="4687330" y="104582"/>
            <a:ext cx="4302015" cy="509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hu-HU"/>
            </a:defPPr>
            <a:lvl1pPr marL="0" algn="ctr" defTabSz="914400" rtl="0" eaLnBrk="1" latinLnBrk="0" hangingPunct="1">
              <a:spcBef>
                <a:spcPts val="200"/>
              </a:spcBef>
              <a:spcAft>
                <a:spcPts val="200"/>
              </a:spcAft>
              <a:defRPr sz="1100" b="0" kern="1200">
                <a:solidFill>
                  <a:srgbClr val="1D294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hu-HU" sz="1000" b="1" spc="0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26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04" r:id="rId2"/>
    <p:sldLayoutId id="2147483805" r:id="rId3"/>
    <p:sldLayoutId id="2147483826" r:id="rId4"/>
    <p:sldLayoutId id="2147483829" r:id="rId5"/>
    <p:sldLayoutId id="2147483828" r:id="rId6"/>
    <p:sldLayoutId id="2147483827" r:id="rId7"/>
    <p:sldLayoutId id="2147483812" r:id="rId8"/>
    <p:sldLayoutId id="2147483662" r:id="rId9"/>
    <p:sldLayoutId id="2147483820" r:id="rId10"/>
    <p:sldLayoutId id="2147483664" r:id="rId11"/>
    <p:sldLayoutId id="2147483806" r:id="rId12"/>
    <p:sldLayoutId id="2147483807" r:id="rId13"/>
    <p:sldLayoutId id="2147483808" r:id="rId14"/>
    <p:sldLayoutId id="2147483813" r:id="rId15"/>
    <p:sldLayoutId id="2147483814" r:id="rId16"/>
    <p:sldLayoutId id="2147483815" r:id="rId17"/>
    <p:sldLayoutId id="2147483665" r:id="rId18"/>
    <p:sldLayoutId id="2147483816" r:id="rId19"/>
    <p:sldLayoutId id="2147483817" r:id="rId20"/>
    <p:sldLayoutId id="2147483818" r:id="rId21"/>
    <p:sldLayoutId id="2147483668" r:id="rId22"/>
    <p:sldLayoutId id="2147483821" r:id="rId23"/>
    <p:sldLayoutId id="2147483822" r:id="rId24"/>
    <p:sldLayoutId id="2147483823" r:id="rId25"/>
    <p:sldLayoutId id="2147483669" r:id="rId26"/>
    <p:sldLayoutId id="2147483667" r:id="rId27"/>
    <p:sldLayoutId id="2147483673" r:id="rId28"/>
    <p:sldLayoutId id="2147483830" r:id="rId29"/>
    <p:sldLayoutId id="2147483831" r:id="rId30"/>
    <p:sldLayoutId id="2147483870" r:id="rId31"/>
    <p:sldLayoutId id="2147483674" r:id="rId32"/>
    <p:sldLayoutId id="2147483675" r:id="rId33"/>
    <p:sldLayoutId id="2147483672" r:id="rId34"/>
    <p:sldLayoutId id="2147483676" r:id="rId35"/>
    <p:sldLayoutId id="2147483824" r:id="rId36"/>
    <p:sldLayoutId id="2147483825" r:id="rId37"/>
    <p:sldLayoutId id="2147483678" r:id="rId3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D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/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2" y="104582"/>
            <a:ext cx="2808626" cy="4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7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2" r:id="rId18"/>
    <p:sldLayoutId id="2147483853" r:id="rId19"/>
    <p:sldLayoutId id="2147483854" r:id="rId20"/>
    <p:sldLayoutId id="2147483856" r:id="rId21"/>
    <p:sldLayoutId id="2147483857" r:id="rId22"/>
    <p:sldLayoutId id="2147483858" r:id="rId23"/>
    <p:sldLayoutId id="2147483859" r:id="rId24"/>
    <p:sldLayoutId id="2147483860" r:id="rId25"/>
    <p:sldLayoutId id="2147483861" r:id="rId26"/>
    <p:sldLayoutId id="2147483872" r:id="rId27"/>
    <p:sldLayoutId id="2147483862" r:id="rId28"/>
    <p:sldLayoutId id="2147483863" r:id="rId29"/>
    <p:sldLayoutId id="2147483864" r:id="rId30"/>
    <p:sldLayoutId id="2147483865" r:id="rId31"/>
    <p:sldLayoutId id="2147483866" r:id="rId32"/>
    <p:sldLayoutId id="2147483867" r:id="rId33"/>
    <p:sldLayoutId id="2147483868" r:id="rId34"/>
    <p:sldLayoutId id="2147483871" r:id="rId35"/>
    <p:sldLayoutId id="2147483869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ép 11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2" y="104582"/>
            <a:ext cx="2808626" cy="482811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53" y="104582"/>
            <a:ext cx="2808625" cy="4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8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  <p:sldLayoutId id="2147483930" r:id="rId18"/>
    <p:sldLayoutId id="2147483931" r:id="rId19"/>
    <p:sldLayoutId id="2147483932" r:id="rId20"/>
    <p:sldLayoutId id="2147483933" r:id="rId21"/>
    <p:sldLayoutId id="2147483934" r:id="rId22"/>
    <p:sldLayoutId id="2147483935" r:id="rId23"/>
    <p:sldLayoutId id="2147483936" r:id="rId24"/>
    <p:sldLayoutId id="2147483937" r:id="rId25"/>
    <p:sldLayoutId id="2147483938" r:id="rId26"/>
    <p:sldLayoutId id="2147483939" r:id="rId27"/>
    <p:sldLayoutId id="2147483940" r:id="rId28"/>
    <p:sldLayoutId id="2147483941" r:id="rId29"/>
    <p:sldLayoutId id="2147483942" r:id="rId30"/>
    <p:sldLayoutId id="2147483943" r:id="rId31"/>
    <p:sldLayoutId id="2147483944" r:id="rId32"/>
    <p:sldLayoutId id="2147483945" r:id="rId33"/>
    <p:sldLayoutId id="2147483946" r:id="rId34"/>
    <p:sldLayoutId id="2147483947" r:id="rId35"/>
    <p:sldLayoutId id="2147483948" r:id="rId36"/>
    <p:sldLayoutId id="2147483949" r:id="rId37"/>
    <p:sldLayoutId id="2147483950" r:id="rId3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Agent-alapú, metrika-vezérelt IDS-riasztásaggregáció SOC-környezetben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Kutatási eredmények – Diplomamunka II.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1600"/>
              <a:t>Nagy József</a:t>
            </a:r>
          </a:p>
          <a:p>
            <a:r>
              <a:rPr sz="1600"/>
              <a:t>Kiberbiztonsági mérnöki MSc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/>
              <a:t>Konzulens:</a:t>
            </a:r>
          </a:p>
          <a:p>
            <a:r>
              <a:rPr sz="1600"/>
              <a:t>Vörösné Dr. Bánáti-Baumann Anna</a:t>
            </a:r>
          </a:p>
        </p:txBody>
      </p:sp>
    </p:spTree>
    <p:extLst>
      <p:ext uri="{BB962C8B-B14F-4D97-AF65-F5344CB8AC3E}">
        <p14:creationId xmlns:p14="http://schemas.microsoft.com/office/powerpoint/2010/main" val="115476421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D294D"/>
                </a:solidFill>
              </a:rPr>
              <a:t>A probléma és a kutatási rés</a:t>
            </a:r>
          </a:p>
        </p:txBody>
      </p:sp>
      <p:sp>
        <p:nvSpPr>
          <p:cNvPr id="4" name="Kártya 1"/>
          <p:cNvSpPr/>
          <p:nvPr/>
        </p:nvSpPr>
        <p:spPr>
          <a:xfrm>
            <a:off x="274320" y="1783080"/>
            <a:ext cx="2697480" cy="1874519"/>
          </a:xfrm>
          <a:prstGeom prst="rect">
            <a:avLst/>
          </a:prstGeom>
          <a:solidFill>
            <a:srgbClr val="1D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331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0,5%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Suricata-riasztások közül ennyi jelzett valódi támadást (44 / 9186, AIT-ADS)</a:t>
            </a:r>
          </a:p>
        </p:txBody>
      </p:sp>
      <p:sp>
        <p:nvSpPr>
          <p:cNvPr id="7" name="Kártya 2"/>
          <p:cNvSpPr/>
          <p:nvPr/>
        </p:nvSpPr>
        <p:spPr>
          <a:xfrm>
            <a:off x="3246120" y="1783080"/>
            <a:ext cx="2697480" cy="1874519"/>
          </a:xfrm>
          <a:prstGeom prst="rect">
            <a:avLst/>
          </a:prstGeom>
          <a:solidFill>
            <a:srgbClr val="FCA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965960"/>
            <a:ext cx="2331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D294D"/>
                </a:solidFill>
              </a:rPr>
              <a:t>0,72 → 0,92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69748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D294D"/>
                </a:solidFill>
              </a:rPr>
              <a:t>rangsor-pontosság (AUROC): csak súlyosság vs. kockázatalapú pontozás</a:t>
            </a:r>
          </a:p>
        </p:txBody>
      </p:sp>
      <p:sp>
        <p:nvSpPr>
          <p:cNvPr id="10" name="Kártya 3"/>
          <p:cNvSpPr/>
          <p:nvPr/>
        </p:nvSpPr>
        <p:spPr>
          <a:xfrm>
            <a:off x="6217920" y="1783080"/>
            <a:ext cx="2697480" cy="1874519"/>
          </a:xfrm>
          <a:prstGeom prst="rect">
            <a:avLst/>
          </a:prstGeom>
          <a:solidFill>
            <a:srgbClr val="9A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2331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D294D"/>
                </a:solidFill>
              </a:rPr>
              <a:t>9 / 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D294D"/>
                </a:solidFill>
              </a:rPr>
              <a:t>tanulmány alapult éles SOC-adaton a riasztási fáradtság irodalmában</a:t>
            </a:r>
          </a:p>
        </p:txBody>
      </p:sp>
      <p:sp>
        <p:nvSpPr>
          <p:cNvPr id="13" name="Rés doboz"/>
          <p:cNvSpPr/>
          <p:nvPr/>
        </p:nvSpPr>
        <p:spPr>
          <a:xfrm>
            <a:off x="274320" y="3977639"/>
            <a:ext cx="8595360" cy="1920240"/>
          </a:xfrm>
          <a:prstGeom prst="rect">
            <a:avLst/>
          </a:prstGeom>
          <a:solidFill>
            <a:srgbClr val="E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81381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294D"/>
                </a:solidFill>
              </a:rPr>
              <a:t>Kutatási rés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D294D"/>
                </a:solidFill>
              </a:rPr>
              <a:t>A legerősebb nyilvános, tanítás nélküli módszer, a kockázatalapú pontozás nem használja a környezetet: a gép fontosságát, a sérülékenységeket és a megfigyeltséget.</a:t>
            </a:r>
          </a:p>
          <a:p>
            <a:pPr algn="l"/>
            <a:r>
              <a:rPr sz="1400" b="1" i="0">
                <a:solidFill>
                  <a:srgbClr val="1D294D"/>
                </a:solidFill>
              </a:rPr>
              <a:t>Kérdés: </a:t>
            </a:r>
            <a:r>
              <a:rPr sz="1400" b="0" i="0">
                <a:solidFill>
                  <a:srgbClr val="1D294D"/>
                </a:solidFill>
              </a:rPr>
              <a:t>mennyit javít a környezeti információ egy már erős rangsoroláson? Erre ma nincs nyilvános, megismételhető mérés.</a:t>
            </a:r>
          </a:p>
        </p:txBody>
      </p:sp>
      <p:sp>
        <p:nvSpPr>
          <p:cNvPr id="15" name="Forrás"/>
          <p:cNvSpPr txBox="1"/>
          <p:nvPr/>
        </p:nvSpPr>
        <p:spPr>
          <a:xfrm>
            <a:off x="274320" y="6053328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37A"/>
                </a:solidFill>
              </a:rPr>
              <a:t>Forrás: Uetz és mtsai. 2026 (arXiv:2609.02465); Ndichu és mtsai. 2026; Landauer és mtsai. 2024 (AIT-ADS)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D294D"/>
                </a:solidFill>
              </a:rPr>
              <a:t>Adathalmazok: mire lehet mérni?</a:t>
            </a:r>
          </a:p>
        </p:txBody>
      </p:sp>
      <p:graphicFrame>
        <p:nvGraphicFramePr>
          <p:cNvPr id="4" name="Adathalmaz-táblázat"/>
          <p:cNvGraphicFramePr>
            <a:graphicFrameLocks noGrp="1"/>
          </p:cNvGraphicFramePr>
          <p:nvPr/>
        </p:nvGraphicFramePr>
        <p:xfrm>
          <a:off x="274320" y="1737360"/>
          <a:ext cx="8595360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2240280"/>
                <a:gridCol w="1234440"/>
                <a:gridCol w="1508760"/>
                <a:gridCol w="21945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Adathalmaz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Tartalom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Címkézett riasztás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Környezeti adat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Szerepe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DARPA 2000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Régi hálózati forgalom, egy támadás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nem (forgalom)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nincs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Elavult; a riasztást elő kellene állítani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CIC-IDS2017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Forgalom és folyamstatisztika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nem (folyam)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nincs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Osztályozásra készült, nem riasztásokra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AIT-LDSv2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Gépi és hálózati naplók, 8 környezet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nem (napló)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hálózatleírás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Az AIT-ADS forrása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AIT-ADS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Suricata- és Wazuh-riasztások, 8 forgatókönyv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gépnév, szolgáltatás (CVE nincs)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Fő mérés; a kockázatalapú pontozással összevethető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CATS-változat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AIT-ADS 1 forgatókönyv, jellemzőkkel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Ellenőrzés: ugyanazok a riasztások?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Saját labor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VMware + Docker; WordPress 5.8.2 + wpDiscuz (CVE-2020-24186)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saját címkézés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teljes: gépnyilvántartás, CVE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CVE-szintű mérés valósághűbb környezetben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5" name="Forrás"/>
          <p:cNvSpPr txBox="1"/>
          <p:nvPr/>
        </p:nvSpPr>
        <p:spPr>
          <a:xfrm>
            <a:off x="274320" y="6035040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37A"/>
                </a:solidFill>
              </a:rPr>
              <a:t>Forrás: Landauer és mtsai. 2024 (AIT-ADS, Zenodo 8263181); Uetz és mtsai. 2026 (CATS); saját összeállítás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D294D"/>
                </a:solidFill>
              </a:rPr>
              <a:t>A meglévő módszerek és gyengeségeik</a:t>
            </a:r>
          </a:p>
        </p:txBody>
      </p:sp>
      <p:graphicFrame>
        <p:nvGraphicFramePr>
          <p:cNvPr id="4" name="Módszer-táblázat"/>
          <p:cNvGraphicFramePr>
            <a:graphicFrameLocks noGrp="1"/>
          </p:cNvGraphicFramePr>
          <p:nvPr/>
        </p:nvGraphicFramePr>
        <p:xfrm>
          <a:off x="274320" y="1737360"/>
          <a:ext cx="8595360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960120"/>
                <a:gridCol w="1005840"/>
                <a:gridCol w="1280160"/>
                <a:gridCol w="35204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Módszercsalád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Környezet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Tanítás nélkül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Megismételhető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Fő gyengeség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Súlyosság szerint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Durva fokozatok, a géptől független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Többszempontú (páros összehasonlítás, fuzzy)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Szakértői súlyok vizsgálat nélkül; régi adathalmazokon mérve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Környezet és ellenőrzés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Szűr: hiányos nyilvántartásnál valódi támadást is eltávolít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Kockázatalapú pontozás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nem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Csak a riasztások folyamából dolgozik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Tanuló, származáskövető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részben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részben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Címkét vagy részletes gépi naplót igényel; nehezen magyarázható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Nyelvimodell-agentek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részben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nem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Lassú, költséges; kiértékelés saját adaton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Saját megoldás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igen, súlyként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igen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Környezet súlyként, nyilvános mérés, a nyelvi modell csak magyaráz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</a:tbl>
          </a:graphicData>
        </a:graphic>
      </p:graphicFrame>
      <p:sp>
        <p:nvSpPr>
          <p:cNvPr id="5" name="Forrás"/>
          <p:cNvSpPr txBox="1"/>
          <p:nvPr/>
        </p:nvSpPr>
        <p:spPr>
          <a:xfrm>
            <a:off x="274320" y="5989320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37A"/>
                </a:solidFill>
              </a:rPr>
              <a:t>Forrás: Anuar és mtsai. 2013; Alsubhi és mtsai. 2011; Kruegel és mtsai. 2004; Njogu és mtsai. 2013; Uetz és mtsai. 2026; Hassan és mtsai. 2019; Wang és mtsai. 2024; Wei és mtsai.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D294D"/>
                </a:solidFill>
              </a:rPr>
              <a:t>A tervezett rendszer: hét agent</a:t>
            </a:r>
          </a:p>
        </p:txBody>
      </p:sp>
      <p:graphicFrame>
        <p:nvGraphicFramePr>
          <p:cNvPr id="4" name="Agent-táblázat"/>
          <p:cNvGraphicFramePr>
            <a:graphicFrameLocks noGrp="1"/>
          </p:cNvGraphicFramePr>
          <p:nvPr/>
        </p:nvGraphicFramePr>
        <p:xfrm>
          <a:off x="274320" y="1691640"/>
          <a:ext cx="8595360" cy="3218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"/>
                <a:gridCol w="1554480"/>
                <a:gridCol w="3840480"/>
                <a:gridCol w="28346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Bemenet → kimenet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Megvalósítás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Egységesítő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Suricata- és Wazuh-riasztás → közös riasztásforma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Python, determinisztikus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Csoportosító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riasztások → csoportok (közös IP / felhasználó, időablak)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Python, determinisztikus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Környezet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gépnév, IP → fontosság, zóna, megfigyeltség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relációs gépnyilvántartás (SQLite)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Sérülékenységi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szabály + gép → működhet-e a támadás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szoftverazonosító (CPE) illesztése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Rangsoroló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mérőszámok → pontszám és sorrend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súlyozott összeg, páros összehasonlítás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Magyarázó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csoport → rövid szöveges összefoglaló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helyi nyelvi modell (Ollama) + ellenőrzés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Vezérlő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sorrend, naplózás, időmérés – végig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Python, később LangGraph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éteg 1"/>
          <p:cNvSpPr/>
          <p:nvPr/>
        </p:nvSpPr>
        <p:spPr>
          <a:xfrm>
            <a:off x="274320" y="5074920"/>
            <a:ext cx="2697480" cy="868680"/>
          </a:xfrm>
          <a:prstGeom prst="rect">
            <a:avLst/>
          </a:prstGeom>
          <a:solidFill>
            <a:srgbClr val="1D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5138928"/>
            <a:ext cx="24231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</a:rPr>
              <a:t>1. Mag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sima Python-modulok; az AIT-mérések ezen futnak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08376" y="5394960"/>
            <a:ext cx="201168" cy="228600"/>
          </a:xfrm>
          <a:prstGeom prst="rightArrow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éteg 2"/>
          <p:cNvSpPr/>
          <p:nvPr/>
        </p:nvSpPr>
        <p:spPr>
          <a:xfrm>
            <a:off x="3246120" y="5074920"/>
            <a:ext cx="2697480" cy="868680"/>
          </a:xfrm>
          <a:prstGeom prst="rect">
            <a:avLst/>
          </a:prstGeom>
          <a:solidFill>
            <a:srgbClr val="9A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5138928"/>
            <a:ext cx="24231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94D"/>
                </a:solidFill>
              </a:rPr>
              <a:t>2. Vezérlés</a:t>
            </a:r>
          </a:p>
          <a:p>
            <a:pPr algn="l"/>
            <a:r>
              <a:rPr sz="1200" b="0" i="0">
                <a:solidFill>
                  <a:srgbClr val="1D294D"/>
                </a:solidFill>
              </a:rPr>
              <a:t>LangGraph-gráf; ugyanazt kell adnia, mint a mag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0176" y="5394960"/>
            <a:ext cx="201168" cy="228600"/>
          </a:xfrm>
          <a:prstGeom prst="rightArrow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éteg 3"/>
          <p:cNvSpPr/>
          <p:nvPr/>
        </p:nvSpPr>
        <p:spPr>
          <a:xfrm>
            <a:off x="6217920" y="5074920"/>
            <a:ext cx="2697480" cy="868680"/>
          </a:xfrm>
          <a:prstGeom prst="rect">
            <a:avLst/>
          </a:prstGeom>
          <a:solidFill>
            <a:srgbClr val="E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5138928"/>
            <a:ext cx="24231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94D"/>
                </a:solidFill>
              </a:rPr>
              <a:t>3. Csatlakozó</a:t>
            </a:r>
          </a:p>
          <a:p>
            <a:pPr algn="l"/>
            <a:r>
              <a:rPr sz="1200" b="0" i="0">
                <a:solidFill>
                  <a:srgbClr val="1D294D"/>
                </a:solidFill>
              </a:rPr>
              <a:t>MCP, csak olvasható gépnyilvántartás (opcionális)</a:t>
            </a:r>
          </a:p>
        </p:txBody>
      </p:sp>
      <p:sp>
        <p:nvSpPr>
          <p:cNvPr id="13" name="Megjegyzés"/>
          <p:cNvSpPr txBox="1"/>
          <p:nvPr/>
        </p:nvSpPr>
        <p:spPr>
          <a:xfrm>
            <a:off x="274320" y="6035040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37A"/>
                </a:solidFill>
              </a:rPr>
              <a:t>Borostyán sor: az egyetlen nyelvi modellt használó lépés – nem dönt a sorrendről, nem ad pontszámot.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D294D"/>
                </a:solidFill>
              </a:rPr>
              <a:t>Mitől más ez a megoldás?</a:t>
            </a:r>
          </a:p>
        </p:txBody>
      </p:sp>
      <p:graphicFrame>
        <p:nvGraphicFramePr>
          <p:cNvPr id="4" name="Különbség-táblázat"/>
          <p:cNvGraphicFramePr>
            <a:graphicFrameLocks noGrp="1"/>
          </p:cNvGraphicFramePr>
          <p:nvPr/>
        </p:nvGraphicFramePr>
        <p:xfrm>
          <a:off x="274320" y="1737360"/>
          <a:ext cx="8595360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3291840"/>
                <a:gridCol w="37033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Szempont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 kutatások többsége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Saját megoldás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Környezet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D294D"/>
                          </a:solidFill>
                        </a:rPr>
                        <a:t>nem használja, vagy szűr vele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súlyként módosítja a sorrendet, riasztást nem töröl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Összehasonlítás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D294D"/>
                          </a:solidFill>
                        </a:rPr>
                        <a:t>gyenge alap (csak súlyosság)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a legerősebb nyilvános módszer, lépésenként bővítve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Mérés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D294D"/>
                          </a:solidFill>
                        </a:rPr>
                        <a:t>saját, nem nyilvános vagy mesterséges adat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nyilvános AIT-ADS + saját labor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Tanítóadat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D294D"/>
                          </a:solidFill>
                        </a:rPr>
                        <a:t>címkét vagy elemzői visszajelzést igényel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nem kell; tanult súlyok csak összevetésre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Nyelvi modell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D294D"/>
                          </a:solidFill>
                        </a:rPr>
                        <a:t>dönt és sorrendet ad; lassú, nem megismételhető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csak magyaráz, helyben fut, ellenőrzött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Súlyok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D294D"/>
                          </a:solidFill>
                        </a:rPr>
                        <a:t>szakértői, érzékenységvizsgálat nélkül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D294D"/>
                          </a:solidFill>
                        </a:rPr>
                        <a:t>páros összehasonlítás, mérés előtt rögzítve, ±20% vizsgálat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</a:tbl>
          </a:graphicData>
        </a:graphic>
      </p:graphicFrame>
      <p:sp>
        <p:nvSpPr>
          <p:cNvPr id="5" name="Forrás"/>
          <p:cNvSpPr txBox="1"/>
          <p:nvPr/>
        </p:nvSpPr>
        <p:spPr>
          <a:xfrm>
            <a:off x="274320" y="6053328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37A"/>
                </a:solidFill>
              </a:rPr>
              <a:t>Forrás: saját összeállítás a 3. fejezet szakirodalmi áttekintése alapján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D294D"/>
                </a:solidFill>
              </a:rPr>
              <a:t>Milyen eredményt várok?</a:t>
            </a:r>
          </a:p>
        </p:txBody>
      </p:sp>
      <p:graphicFrame>
        <p:nvGraphicFramePr>
          <p:cNvPr id="4" name="Lépés-táblázat"/>
          <p:cNvGraphicFramePr>
            <a:graphicFrameLocks noGrp="1"/>
          </p:cNvGraphicFramePr>
          <p:nvPr/>
        </p:nvGraphicFramePr>
        <p:xfrm>
          <a:off x="274320" y="1691640"/>
          <a:ext cx="859536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0080"/>
                <a:gridCol w="2240280"/>
                <a:gridCol w="2697480"/>
                <a:gridCol w="30175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Lépés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Mit rangsorolunk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Mit adunk hozzá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Várakozás</a:t>
                      </a:r>
                    </a:p>
                  </a:txBody>
                  <a:tcPr marL="54864" marR="54864" marT="27432" marB="27432" anchor="ctr">
                    <a:solidFill>
                      <a:srgbClr val="1D29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nyers riasztások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kiindulópont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súlyosság szerint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szabály szintje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≈ 0,72 rangsor-pontosság (közölt)</a:t>
                      </a:r>
                    </a:p>
                  </a:txBody>
                  <a:tcPr marL="54864" marR="54864" marT="27432" marB="27432" anchor="ctr">
                    <a:solidFill>
                      <a:srgbClr val="F3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csoportosítás után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összetartozók összevonása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kevesebb tétel az elemző előtt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6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kockázatalapú pontozás</a:t>
                      </a:r>
                    </a:p>
                  </a:txBody>
                  <a:tcPr marL="54864" marR="54864" marT="27432" marB="27432" anchor="ctr">
                    <a:solidFill>
                      <a:srgbClr val="E6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5 részpontszám</a:t>
                      </a:r>
                    </a:p>
                  </a:txBody>
                  <a:tcPr marL="54864" marR="54864" marT="27432" marB="27432" anchor="ctr">
                    <a:solidFill>
                      <a:srgbClr val="E6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≈ 0,92 visszamérve – az erős alap</a:t>
                      </a:r>
                    </a:p>
                  </a:txBody>
                  <a:tcPr marL="54864" marR="54864" marT="27432" marB="27432" anchor="ctr">
                    <a:solidFill>
                      <a:srgbClr val="E6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+ gép fontossága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kritikus gépek előre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javulás a lista első 10%-ában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+ sérülékenység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működhet-e a támadás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AIT-en kisebb, laborban nagyobb hatás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294D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+ megfigyeltség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vakfoltok figyelembevétele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94D"/>
                          </a:solidFill>
                        </a:rPr>
                        <a:t>kisebb, de mérhető hatás</a:t>
                      </a:r>
                    </a:p>
                  </a:txBody>
                  <a:tcPr marL="54864" marR="54864" marT="27432" marB="27432" anchor="ctr">
                    <a:solidFill>
                      <a:srgbClr val="FEEFCF"/>
                    </a:solidFill>
                  </a:tcPr>
                </a:tc>
              </a:tr>
            </a:tbl>
          </a:graphicData>
        </a:graphic>
      </p:graphicFrame>
      <p:sp>
        <p:nvSpPr>
          <p:cNvPr id="5" name="Várakozás-kártya 1"/>
          <p:cNvSpPr/>
          <p:nvPr/>
        </p:nvSpPr>
        <p:spPr>
          <a:xfrm>
            <a:off x="274320" y="4846320"/>
            <a:ext cx="2697480" cy="1188720"/>
          </a:xfrm>
          <a:prstGeom prst="rect">
            <a:avLst/>
          </a:prstGeom>
          <a:solidFill>
            <a:srgbClr val="E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4919472"/>
            <a:ext cx="2423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294D"/>
                </a:solidFill>
              </a:rPr>
              <a:t>AIT-ADS (8 forgatókönyv)</a:t>
            </a:r>
          </a:p>
          <a:p>
            <a:pPr algn="l"/>
            <a:r>
              <a:rPr sz="1100" b="0" i="0">
                <a:solidFill>
                  <a:srgbClr val="1D294D"/>
                </a:solidFill>
              </a:rPr>
              <a:t>sérülékenység szolgáltatás szintjén; közvetlenül összevethető a közölt eredménnyel</a:t>
            </a:r>
          </a:p>
        </p:txBody>
      </p:sp>
      <p:sp>
        <p:nvSpPr>
          <p:cNvPr id="7" name="Várakozás-kártya 2"/>
          <p:cNvSpPr/>
          <p:nvPr/>
        </p:nvSpPr>
        <p:spPr>
          <a:xfrm>
            <a:off x="3246120" y="4846320"/>
            <a:ext cx="2697480" cy="1188720"/>
          </a:xfrm>
          <a:prstGeom prst="rect">
            <a:avLst/>
          </a:prstGeom>
          <a:solidFill>
            <a:srgbClr val="E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4919472"/>
            <a:ext cx="2423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294D"/>
                </a:solidFill>
              </a:rPr>
              <a:t>Saját labor</a:t>
            </a:r>
          </a:p>
          <a:p>
            <a:pPr algn="l"/>
            <a:r>
              <a:rPr sz="1100" b="0" i="0">
                <a:solidFill>
                  <a:srgbClr val="1D294D"/>
                </a:solidFill>
              </a:rPr>
              <a:t>teljes gépnyilvántartás, CVE-szintű illesztés; a nyelvi modell futásideje is mérve</a:t>
            </a:r>
          </a:p>
        </p:txBody>
      </p:sp>
      <p:sp>
        <p:nvSpPr>
          <p:cNvPr id="9" name="Várakozás-kártya 3"/>
          <p:cNvSpPr/>
          <p:nvPr/>
        </p:nvSpPr>
        <p:spPr>
          <a:xfrm>
            <a:off x="6217920" y="4846320"/>
            <a:ext cx="2697480" cy="1188720"/>
          </a:xfrm>
          <a:prstGeom prst="rect">
            <a:avLst/>
          </a:prstGeom>
          <a:solidFill>
            <a:srgbClr val="FEE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919472"/>
            <a:ext cx="24231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294D"/>
                </a:solidFill>
              </a:rPr>
              <a:t>Siker feltétele</a:t>
            </a:r>
          </a:p>
          <a:p>
            <a:pPr algn="l"/>
            <a:r>
              <a:rPr sz="1100" b="0" i="0">
                <a:solidFill>
                  <a:srgbClr val="1D294D"/>
                </a:solidFill>
              </a:rPr>
              <a:t>≤ 2% átcsúszó valódi támadás mellett kevesebb tétel; Wilcoxon-próba 8 forgatókönyvön</a:t>
            </a:r>
          </a:p>
        </p:txBody>
      </p:sp>
      <p:sp>
        <p:nvSpPr>
          <p:cNvPr id="11" name="Forrás"/>
          <p:cNvSpPr txBox="1"/>
          <p:nvPr/>
        </p:nvSpPr>
        <p:spPr>
          <a:xfrm>
            <a:off x="274320" y="6108192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37A"/>
                </a:solidFill>
              </a:rPr>
              <a:t>A 0,72 és a 0,92 közölt érték: Uetz és mtsai. 2026. A 4–6. lépés várakozása hipotézis, mérés még nincs.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52cea9a-acf1-42c8-87a7-9f9b9b79dc8d">
      <Terms xmlns="http://schemas.microsoft.com/office/infopath/2007/PartnerControls"/>
    </lcf76f155ced4ddcb4097134ff3c332f>
    <TaxCatchAll xmlns="0d310032-7070-4466-91db-2794e74236d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D85537E2BC684E4CB48FCF53F4B4CBEB" ma:contentTypeVersion="15" ma:contentTypeDescription="Új dokumentum létrehozása." ma:contentTypeScope="" ma:versionID="72c268c1130764332ff8f19aad43ceb7">
  <xsd:schema xmlns:xsd="http://www.w3.org/2001/XMLSchema" xmlns:xs="http://www.w3.org/2001/XMLSchema" xmlns:p="http://schemas.microsoft.com/office/2006/metadata/properties" xmlns:ns2="352cea9a-acf1-42c8-87a7-9f9b9b79dc8d" xmlns:ns3="0d310032-7070-4466-91db-2794e74236da" targetNamespace="http://schemas.microsoft.com/office/2006/metadata/properties" ma:root="true" ma:fieldsID="33af370977031ff9f42e5a78b94a9863" ns2:_="" ns3:_="">
    <xsd:import namespace="352cea9a-acf1-42c8-87a7-9f9b9b79dc8d"/>
    <xsd:import namespace="0d310032-7070-4466-91db-2794e7423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2cea9a-acf1-42c8-87a7-9f9b9b79dc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1" nillable="true" ma:taxonomy="true" ma:internalName="lcf76f155ced4ddcb4097134ff3c332f" ma:taxonomyFieldName="MediaServiceImageTags" ma:displayName="Képcímkék" ma:readOnly="false" ma:fieldId="{5cf76f15-5ced-4ddc-b409-7134ff3c332f}" ma:taxonomyMulti="true" ma:sspId="81fdf5ea-129c-422e-b789-1a66b7cb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310032-7070-4466-91db-2794e74236d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ff0ceaf-1292-4389-a42e-19fa1e336d1b}" ma:internalName="TaxCatchAll" ma:showField="CatchAllData" ma:web="0d310032-7070-4466-91db-2794e74236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BBDA88-63DB-4ADD-947A-EE786A40A67F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352cea9a-acf1-42c8-87a7-9f9b9b79dc8d"/>
    <ds:schemaRef ds:uri="http://schemas.microsoft.com/office/infopath/2007/PartnerControls"/>
    <ds:schemaRef ds:uri="0d310032-7070-4466-91db-2794e74236da"/>
  </ds:schemaRefs>
</ds:datastoreItem>
</file>

<file path=customXml/itemProps2.xml><?xml version="1.0" encoding="utf-8"?>
<ds:datastoreItem xmlns:ds="http://schemas.openxmlformats.org/officeDocument/2006/customXml" ds:itemID="{521A0A0C-3779-4B3F-BB96-A1DA4976D5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2cea9a-acf1-42c8-87a7-9f9b9b79dc8d"/>
    <ds:schemaRef ds:uri="0d310032-7070-4466-91db-2794e74236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A90AFA-6493-4E92-A203-C960BF1326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966</TotalTime>
  <Words>0</Words>
  <Application>Microsoft Office PowerPoint</Application>
  <PresentationFormat>Diavetítés a képernyőre (4:3 oldalarány)</PresentationFormat>
  <Paragraphs>0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3</vt:i4>
      </vt:variant>
      <vt:variant>
        <vt:lpstr>Diacímek</vt:lpstr>
      </vt:variant>
      <vt:variant>
        <vt:i4>3</vt:i4>
      </vt:variant>
    </vt:vector>
  </HeadingPairs>
  <TitlesOfParts>
    <vt:vector size="11" baseType="lpstr">
      <vt:lpstr>Arial</vt:lpstr>
      <vt:lpstr>Calibri</vt:lpstr>
      <vt:lpstr>Open Sans</vt:lpstr>
      <vt:lpstr>Open Sans Light</vt:lpstr>
      <vt:lpstr>Wingdings</vt:lpstr>
      <vt:lpstr>1_Office-téma</vt:lpstr>
      <vt:lpstr>2_Office-téma</vt:lpstr>
      <vt:lpstr>3_Office-téma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Árgyelán Mária</dc:creator>
  <cp:lastModifiedBy>Dr. Póser Valéria</cp:lastModifiedBy>
  <cp:revision>91</cp:revision>
  <dcterms:created xsi:type="dcterms:W3CDTF">2022-03-25T09:59:45Z</dcterms:created>
  <dcterms:modified xsi:type="dcterms:W3CDTF">2025-11-05T12:08:02Z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0x010100D85537E2BC684E4CB48FCF53F4B4CBEB</vt:lpwstr>
  </property>
  <property fmtid="{D5CDD505-2E9C-101B-9397-08002B2CF9AE}" pid="3" name="MediaServiceImageTags">
    <vt:lpwstr/>
  </property>
</Properties>
</file>